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bmp" ContentType="image/bmp"/>
  <Default Extension="webp" ContentType="image/webp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80000" cy="5670000"/>
  <p:notesSz cx="6858000" cy="9144000"/>
  <p:defaultTextStyle>
    <a:lvl1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1pPr>
    <a:lvl2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2pPr>
    <a:lvl3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3pPr>
    <a:lvl4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4pPr>
    <a:lvl5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5pPr>
    <a:lvl6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6pPr>
    <a:lvl7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7pPr>
    <a:lvl8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8pPr>
    <a:lvl9pPr marL="0" indent="0" algn="l">
      <a:lnSpc>
        <a:spcPct val="100000"/>
      </a:lnSpc>
      <a:spcBef>
        <a:spcPts val="0"/>
      </a:spcBef>
      <a:spcAft>
        <a:spcPts val="0"/>
      </a:spcAft>
      <a:buNone/>
      <a:defRPr sz="1800" b="0" i="0">
        <a:solidFill>
          <a:schemeClr val="tx1"/>
        </a:solidFill>
        <a:latin typeface="+mn-lt"/>
      </a:defRPr>
    </a:lvl9pPr>
  </p:defaultTextStyle>
  <p:extLst>
    <p:ext uri="{521415D9-36F7-43E2-AB2F-B90AF26B5E84}">
      <p14:sectionLst xmlns:p14="http://schemas.microsoft.com/office/powerpoint/2010/main">
        <p14:section name="Introduction" id="{6E1A3B2C-0000-4C5D-8E9F-000000000001}">
          <p14:sldIdLst>
            <p14:sldId id="256"/>
            <p14:sldId id="257"/>
          </p14:sldIdLst>
        </p14:section>
        <p14:section name="Results" id="{6E1A3B2C-0002-4C5D-8E9F-000000000003}">
          <p14:sldIdLst>
            <p14:sldId id="258"/>
            <p14:sldId id="259"/>
            <p14:sldId id="260"/>
          </p14:sldIdLst>
        </p14:section>
        <p14:section name="Next year" id="{6E1A3B2C-0005-4C5D-8E9F-000000000006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>
              <a:defRPr sz="1800" b="1"/>
            </a:pPr>
            <a:r>
              <a:rPr lang="en-US" sz="1800" b="1"/>
              <a:t>Takings by month (€)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3120.5</c:v>
                </c:pt>
                <c:pt idx="1">
                  <c:v>2980.25</c:v>
                </c:pt>
                <c:pt idx="2">
                  <c:v>3410</c:v>
                </c:pt>
                <c:pt idx="3">
                  <c:v>3562.75</c:v>
                </c:pt>
                <c:pt idx="4">
                  <c:v>3890.4</c:v>
                </c:pt>
                <c:pt idx="5">
                  <c:v>4210</c:v>
                </c:pt>
                <c:pt idx="6">
                  <c:v>4480.6</c:v>
                </c:pt>
                <c:pt idx="7">
                  <c:v>3950.2</c:v>
                </c:pt>
                <c:pt idx="8">
                  <c:v>3720</c:v>
                </c:pt>
                <c:pt idx="9">
                  <c:v>3641.5</c:v>
                </c:pt>
                <c:pt idx="10">
                  <c:v>3380.9</c:v>
                </c:pt>
                <c:pt idx="11">
                  <c:v>4120.3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1240.2</c:v>
                </c:pt>
                <c:pt idx="1">
                  <c:v>1310</c:v>
                </c:pt>
                <c:pt idx="2">
                  <c:v>1150.5</c:v>
                </c:pt>
                <c:pt idx="3">
                  <c:v>980.75</c:v>
                </c:pt>
                <c:pt idx="4">
                  <c:v>870</c:v>
                </c:pt>
                <c:pt idx="5">
                  <c:v>760.3</c:v>
                </c:pt>
                <c:pt idx="6">
                  <c:v>690.1</c:v>
                </c:pt>
                <c:pt idx="7">
                  <c:v>720</c:v>
                </c:pt>
                <c:pt idx="8">
                  <c:v>910.45</c:v>
                </c:pt>
                <c:pt idx="9">
                  <c:v>1120</c:v>
                </c:pt>
                <c:pt idx="10">
                  <c:v>1290.8</c:v>
                </c:pt>
                <c:pt idx="11">
                  <c:v>1420.6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Pastries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2050</c:v>
                </c:pt>
                <c:pt idx="1">
                  <c:v>1920.4</c:v>
                </c:pt>
                <c:pt idx="2">
                  <c:v>2180.7</c:v>
                </c:pt>
                <c:pt idx="3">
                  <c:v>2240</c:v>
                </c:pt>
                <c:pt idx="4">
                  <c:v>2360.2</c:v>
                </c:pt>
                <c:pt idx="5">
                  <c:v>2410.9</c:v>
                </c:pt>
                <c:pt idx="6">
                  <c:v>2520.5</c:v>
                </c:pt>
                <c:pt idx="7">
                  <c:v>2130</c:v>
                </c:pt>
                <c:pt idx="8">
                  <c:v>2290.6</c:v>
                </c:pt>
                <c:pt idx="9">
                  <c:v>2310</c:v>
                </c:pt>
                <c:pt idx="10">
                  <c:v>2240.35</c:v>
                </c:pt>
                <c:pt idx="11">
                  <c:v>2870.25</c:v>
                </c:pt>
              </c:numCache>
            </c:numRef>
          </c:val>
        </c:ser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en-US"/>
    </a:p>
  </c:txPr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"/>
          <p:cNvSpPr>
            <a:spLocks noGrp="1"/>
          </p:cNvSpPr>
          <p:nvPr>
            <p:ph type="body" sz="quarter" idx="3"/>
          </p:nvPr>
        </p:nvSpPr>
        <p:spPr>
          <a:xfrm>
            <a:off x="685800" y="4414800"/>
            <a:ext cx="5486400" cy="4129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Twenty minutes: the figures, the best sellers, the terrace, and what we plan for 2027.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parts. Questions at the end, please.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first: the best year since we opened (2019). Thank the team.</a:t>
            </a:r>
          </a:p>
          <a:p>
            <a:r>
              <a:rPr lang="en-US" dirty="0"/>
              <a:t>Point to December: the Christmas menu (+22 % on the month).</a:t>
            </a:r>
          </a:p>
          <a:p>
            <a:r>
              <a:rPr lang="en-US" dirty="0"/>
              <a:t>Then the summer: the terrace — next slide.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flat white leads again. The chai latte: +41 %, the surprise of the year.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terrace paid for itself in one summer.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steps, one per quarter. The second shop depends on the bank (decision in March).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slowly. Then the score.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everyone; the coffee is on us.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/>
          </p:nvPr>
        </p:nvSpPr>
        <p:spPr>
          <a:xfrm>
            <a:off x="574560" y="1587600"/>
            <a:ext cx="8930880" cy="13608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subTitle" idx="2"/>
          </p:nvPr>
        </p:nvSpPr>
        <p:spPr>
          <a:xfrm>
            <a:off x="574560" y="3061800"/>
            <a:ext cx="8930880" cy="907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/>
              <a:t>Click to add a subtitle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body" idx="2"/>
          </p:nvPr>
        </p:nvSpPr>
        <p:spPr>
          <a:xfrm>
            <a:off x="574560" y="1303920"/>
            <a:ext cx="8930880" cy="3742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body" idx="2"/>
          </p:nvPr>
        </p:nvSpPr>
        <p:spPr>
          <a:xfrm>
            <a:off x="574560" y="1303920"/>
            <a:ext cx="4393440" cy="3742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add text</a:t>
            </a:r>
            <a:endParaRPr/>
          </a:p>
        </p:txBody>
      </p:sp>
      <p:sp>
        <p:nvSpPr>
          <p:cNvPr id="4" name=""/>
          <p:cNvSpPr>
            <a:spLocks noGrp="1"/>
          </p:cNvSpPr>
          <p:nvPr>
            <p:ph type="body" idx="3"/>
          </p:nvPr>
        </p:nvSpPr>
        <p:spPr>
          <a:xfrm>
            <a:off x="5112000" y="1303920"/>
            <a:ext cx="4393440" cy="3742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subTitle" idx="2"/>
          </p:nvPr>
        </p:nvSpPr>
        <p:spPr>
          <a:xfrm>
            <a:off x="574560" y="1303920"/>
            <a:ext cx="4393440" cy="4536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/>
              <a:t>Click to add a subtitle</a:t>
            </a:r>
            <a:endParaRPr/>
          </a:p>
        </p:txBody>
      </p:sp>
      <p:sp>
        <p:nvSpPr>
          <p:cNvPr id="4" name=""/>
          <p:cNvSpPr>
            <a:spLocks noGrp="1"/>
          </p:cNvSpPr>
          <p:nvPr>
            <p:ph type="body" idx="3"/>
          </p:nvPr>
        </p:nvSpPr>
        <p:spPr>
          <a:xfrm>
            <a:off x="574560" y="1870920"/>
            <a:ext cx="4393440" cy="3175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add text</a:t>
            </a:r>
            <a:endParaRPr/>
          </a:p>
        </p:txBody>
      </p:sp>
      <p:sp>
        <p:nvSpPr>
          <p:cNvPr id="5" name=""/>
          <p:cNvSpPr>
            <a:spLocks noGrp="1"/>
          </p:cNvSpPr>
          <p:nvPr>
            <p:ph type="subTitle" idx="4"/>
          </p:nvPr>
        </p:nvSpPr>
        <p:spPr>
          <a:xfrm>
            <a:off x="5112000" y="1303920"/>
            <a:ext cx="4393440" cy="4536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/>
              <a:t>Click to add a subtitle</a:t>
            </a:r>
            <a:endParaRPr/>
          </a:p>
        </p:txBody>
      </p:sp>
      <p:sp>
        <p:nvSpPr>
          <p:cNvPr id="6" name=""/>
          <p:cNvSpPr>
            <a:spLocks noGrp="1"/>
          </p:cNvSpPr>
          <p:nvPr>
            <p:ph type="body" idx="5"/>
          </p:nvPr>
        </p:nvSpPr>
        <p:spPr>
          <a:xfrm>
            <a:off x="5112000" y="1870920"/>
            <a:ext cx="4393440" cy="3175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2041200"/>
            <a:ext cx="8930880" cy="11340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subTitle" idx="2"/>
          </p:nvPr>
        </p:nvSpPr>
        <p:spPr>
          <a:xfrm>
            <a:off x="574560" y="32886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/>
              <a:t>Click to add a subtitle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pic" idx="1"/>
          </p:nvPr>
        </p:nvSpPr>
        <p:spPr>
          <a:xfrm>
            <a:off x="0" y="0"/>
            <a:ext cx="5644800" cy="56700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r>
              <a:rPr/>
              <a:t>Click to add a picture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title"/>
          </p:nvPr>
        </p:nvSpPr>
        <p:spPr>
          <a:xfrm>
            <a:off x="6148800" y="680400"/>
            <a:ext cx="3427200" cy="907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add a title</a:t>
            </a:r>
            <a:endParaRPr/>
          </a:p>
        </p:txBody>
      </p:sp>
      <p:sp>
        <p:nvSpPr>
          <p:cNvPr id="4" name=""/>
          <p:cNvSpPr>
            <a:spLocks noGrp="1"/>
          </p:cNvSpPr>
          <p:nvPr>
            <p:ph type="body" idx="3"/>
          </p:nvPr>
        </p:nvSpPr>
        <p:spPr>
          <a:xfrm>
            <a:off x="6148800" y="1814400"/>
            <a:ext cx="3427200" cy="3175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10880" cy="5670000"/>
          </a:xfrm>
          <a:prstGeom prst="rect">
            <a:avLst/>
          </a:prstGeom>
          <a:solidFill>
            <a:schemeClr val="accent1"/>
          </a:solidFill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endParaRPr/>
          </a:p>
        </p:txBody>
      </p:sp>
      <p:cxnSp>
        <p:nvCxnSpPr>
          <p:cNvPr id="3" name="Rule"/>
          <p:cNvCxnSpPr/>
          <p:nvPr/>
        </p:nvCxnSpPr>
        <p:spPr>
          <a:xfrm>
            <a:off x="574560" y="5301360"/>
            <a:ext cx="8930880" cy="0"/>
          </a:xfrm>
          <a:prstGeom prst="line">
            <a:avLst/>
          </a:prstGeom>
          <a:noFill/>
          <a:ln w="6480">
            <a:solidFill>
              <a:srgbClr val="E2DEDA"/>
            </a:solidFill>
          </a:ln>
        </p:spPr>
      </p:cxnSp>
      <p:sp>
        <p:nvSpPr>
          <p:cNvPr id="4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Click to edit the title</a:t>
            </a:r>
            <a:endParaRPr/>
          </a:p>
        </p:txBody>
      </p:sp>
      <p:sp>
        <p:nvSpPr>
          <p:cNvPr id="5" name=""/>
          <p:cNvSpPr>
            <a:spLocks noGrp="1"/>
          </p:cNvSpPr>
          <p:nvPr>
            <p:ph type="body" idx="1"/>
          </p:nvPr>
        </p:nvSpPr>
        <p:spPr>
          <a:xfrm>
            <a:off x="574560" y="1303920"/>
            <a:ext cx="8930880" cy="3742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316800" indent="-316800"/>
            <a:r>
              <a:rPr/>
              <a:t>Click to edit the text</a:t>
            </a:r>
            <a:endParaRPr/>
          </a:p>
          <a:p>
            <a:pPr marL="529200" indent="-241200" lvl="1"/>
            <a:r>
              <a:rPr/>
              <a:t>Second level</a:t>
            </a:r>
            <a:endParaRPr/>
          </a:p>
          <a:p>
            <a:pPr marL="813600" indent="-237600" lvl="2"/>
            <a:r>
              <a:rPr/>
              <a:t>Third level</a:t>
            </a:r>
            <a:endParaRPr/>
          </a:p>
        </p:txBody>
      </p:sp>
      <p:sp>
        <p:nvSpPr>
          <p:cNvPr id="6" name="Date"/>
          <p:cNvSpPr>
            <a:spLocks noGrp="1"/>
          </p:cNvSpPr>
          <p:nvPr>
            <p:ph type="dt" idx="2"/>
          </p:nvPr>
        </p:nvSpPr>
        <p:spPr>
          <a:xfrm>
            <a:off x="6824160" y="5357880"/>
            <a:ext cx="16128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fld id="{4D3C3A6E-2E1E-4E52-9C61-3F6B6E0C2C11}" type="datetime1">
              <a:rPr sz="1200">
                <a:solidFill>
                  <a:srgbClr val="707C84"/>
                </a:solidFill>
              </a:rPr>
              <a:t/>
            </a:fld>
          </a:p>
        </p:txBody>
      </p:sp>
      <p:sp>
        <p:nvSpPr>
          <p:cNvPr id="7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8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1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1" hdr="0" ftr="1" dt="0"/>
  <p:txStyles>
    <p:titleStyle>
      <a:lvl1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000" b="1">
          <a:solidFill>
            <a:schemeClr val="tx2"/>
          </a:solidFill>
          <a:latin typeface="+mj-lt"/>
        </a:defRPr>
      </a:lvl1pPr>
    </p:titleStyle>
    <p:bodyStyle>
      <a:lvl1pPr marL="288000" indent="-288000" algn="l">
        <a:lnSpc>
          <a:spcPct val="100000"/>
        </a:lnSpc>
        <a:spcBef>
          <a:spcPts val="1000"/>
        </a:spcBef>
        <a:spcAft>
          <a:spcPts val="0"/>
        </a:spcAft>
        <a:buFont typeface="Arial"/>
        <a:buChar char="•"/>
        <a:defRPr sz="2400" b="0" i="0">
          <a:solidFill>
            <a:schemeClr val="tx1"/>
          </a:solidFill>
          <a:latin typeface="+mn-lt"/>
        </a:defRPr>
      </a:lvl1pPr>
      <a:lvl2pPr marL="576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–"/>
        <a:defRPr sz="2000" b="0" i="0">
          <a:solidFill>
            <a:schemeClr val="tx1"/>
          </a:solidFill>
          <a:latin typeface="+mn-lt"/>
        </a:defRPr>
      </a:lvl2pPr>
      <a:lvl3pPr marL="864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•"/>
        <a:defRPr sz="1800" b="0" i="0">
          <a:solidFill>
            <a:schemeClr val="tx1"/>
          </a:solidFill>
          <a:latin typeface="+mn-lt"/>
        </a:defRPr>
      </a:lvl3pPr>
      <a:lvl4pPr marL="1152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–"/>
        <a:defRPr sz="1600" b="0" i="0">
          <a:solidFill>
            <a:schemeClr val="tx1"/>
          </a:solidFill>
          <a:latin typeface="+mn-lt"/>
        </a:defRPr>
      </a:lvl4pPr>
      <a:lvl5pPr marL="1440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</a:defRPr>
      </a:lvl5pPr>
      <a:lvl6pPr marL="1728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</a:defRPr>
      </a:lvl6pPr>
      <a:lvl7pPr marL="2016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</a:defRPr>
      </a:lvl7pPr>
      <a:lvl8pPr marL="2304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</a:defRPr>
      </a:lvl8pPr>
      <a:lvl9pPr marL="2592000" indent="-288000" algn="l">
        <a:lnSpc>
          <a:spcPct val="100000"/>
        </a:lnSpc>
        <a:spcBef>
          <a:spcPts val="4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</a:defRPr>
      </a:lvl9pPr>
    </p:bodyStyle>
    <p:other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1800" b="0" i="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 showMasterSp="0">
  <p:cSld>
    <p:bg>
      <p:bgPr>
        <a:gradFill rotWithShape="1">
          <a:gsLst>
            <a:gs pos="0">
              <a:srgbClr val="143A48"/>
            </a:gs>
            <a:gs pos="100000">
              <a:srgbClr val="347C8E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"/>
          <p:cNvSpPr/>
          <p:nvPr/>
        </p:nvSpPr>
        <p:spPr>
          <a:xfrm>
            <a:off x="223920" y="4730400"/>
            <a:ext cx="15120000" cy="3402000"/>
          </a:xfrm>
          <a:prstGeom prst="ellipse">
            <a:avLst/>
          </a:prstGeom>
          <a:solidFill>
            <a:srgbClr val="10303C">
              <a:alpha val="90196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3" name="Wave"/>
          <p:cNvSpPr/>
          <p:nvPr/>
        </p:nvSpPr>
        <p:spPr>
          <a:xfrm>
            <a:off x="-896040" y="4406400"/>
            <a:ext cx="15120000" cy="3402000"/>
          </a:xfrm>
          <a:prstGeom prst="ellipse">
            <a:avLst/>
          </a:prstGeom>
          <a:solidFill>
            <a:srgbClr val="5AA0B0">
              <a:alpha val="78431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4" name="Wave"/>
          <p:cNvSpPr/>
          <p:nvPr/>
        </p:nvSpPr>
        <p:spPr>
          <a:xfrm>
            <a:off x="-2016000" y="4082400"/>
            <a:ext cx="15120000" cy="3402000"/>
          </a:xfrm>
          <a:prstGeom prst="ellipse">
            <a:avLst/>
          </a:prstGeom>
          <a:solidFill>
            <a:srgbClr val="F0A86E">
              <a:alpha val="90196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5" name="Bubble"/>
          <p:cNvSpPr/>
          <p:nvPr/>
        </p:nvSpPr>
        <p:spPr>
          <a:xfrm>
            <a:off x="7041600" y="2095920"/>
            <a:ext cx="230400" cy="230400"/>
          </a:xfrm>
          <a:prstGeom prst="ellipse">
            <a:avLst/>
          </a:prstGeom>
          <a:solidFill>
            <a:srgbClr val="FFFFFF">
              <a:alpha val="10196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6" name="Bubble"/>
          <p:cNvSpPr/>
          <p:nvPr/>
        </p:nvSpPr>
        <p:spPr>
          <a:xfrm>
            <a:off x="8668800" y="1782720"/>
            <a:ext cx="403200" cy="403200"/>
          </a:xfrm>
          <a:prstGeom prst="ellipse">
            <a:avLst/>
          </a:prstGeom>
          <a:solidFill>
            <a:srgbClr val="FFFFFF">
              <a:alpha val="10196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7" name="Bubble"/>
          <p:cNvSpPr/>
          <p:nvPr/>
        </p:nvSpPr>
        <p:spPr>
          <a:xfrm>
            <a:off x="7466400" y="738000"/>
            <a:ext cx="792000" cy="792000"/>
          </a:xfrm>
          <a:prstGeom prst="ellipse">
            <a:avLst/>
          </a:prstGeom>
          <a:solidFill>
            <a:srgbClr val="FFFFFF">
              <a:alpha val="10196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8" name=""/>
          <p:cNvSpPr>
            <a:spLocks noGrp="1"/>
          </p:cNvSpPr>
          <p:nvPr>
            <p:ph type="ctrTitle"/>
          </p:nvPr>
        </p:nvSpPr>
        <p:spPr>
          <a:xfrm>
            <a:off x="574560" y="1247400"/>
            <a:ext cx="8930880" cy="1474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 sz="7200" b="1">
                <a:solidFill>
                  <a:srgbClr val="FFFFFF"/>
                </a:solidFill>
              </a:rPr>
              <a:t>Onyx Café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9" name=""/>
          <p:cNvSpPr>
            <a:spLocks noGrp="1"/>
          </p:cNvSpPr>
          <p:nvPr>
            <p:ph type="subTitle" idx="2"/>
          </p:nvPr>
        </p:nvSpPr>
        <p:spPr>
          <a:xfrm>
            <a:off x="574560" y="2778120"/>
            <a:ext cx="8930880" cy="1247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r>
              <a:rPr sz="3200">
                <a:solidFill>
                  <a:srgbClr val="FFDEC0"/>
                </a:solidFill>
              </a:rPr>
              <a:t>2026, the year in review</a:t>
            </a:r>
            <a:endParaRPr sz="3200">
              <a:solidFill>
                <a:srgbClr val="FFDEC0"/>
              </a:solidFill>
            </a:endParaRPr>
          </a:p>
          <a:p>
            <a:pPr>
              <a:spcBef>
                <a:spcPts val="2400"/>
              </a:spcBef>
            </a:pPr>
            <a:r>
              <a:rPr sz="1800">
                <a:solidFill>
                  <a:srgbClr val="DCECF0"/>
                </a:solidFill>
              </a:rPr>
              <a:t>Board meeting  ·  14 January 2027</a:t>
            </a:r>
            <a:endParaRPr sz="1800">
              <a:solidFill>
                <a:srgbClr val="DCECF0"/>
              </a:solidFill>
            </a:endParaRPr>
          </a:p>
        </p:txBody>
      </p:sp>
    </p:spTree>
  </p:cSld>
  <p:clrMapOvr>
    <a:masterClrMapping/>
  </p:clrMapOvr>
  <p:transition spd="med" p14:dur="8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Agenda</a:t>
            </a:r>
            <a:endParaRPr/>
          </a:p>
        </p:txBody>
      </p:sp>
      <p:sp>
        <p:nvSpPr>
          <p:cNvPr id="3" name=""/>
          <p:cNvSpPr>
            <a:spLocks noGrp="1"/>
          </p:cNvSpPr>
          <p:nvPr>
            <p:ph type="body" idx="2"/>
          </p:nvPr>
        </p:nvSpPr>
        <p:spPr>
          <a:xfrm>
            <a:off x="574560" y="1303920"/>
            <a:ext cx="5241600" cy="3742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456480" indent="-456480">
              <a:spcBef>
                <a:spcPts val="0"/>
              </a:spcBef>
              <a:buAutoNum type="arabicPeriod"/>
            </a:pPr>
            <a:r>
              <a:rPr sz="2800" b="1"/>
              <a:t>Takings in 2026</a:t>
            </a:r>
            <a:endParaRPr sz="2800" b="1"/>
          </a:p>
          <a:p>
            <a:pPr lvl="1">
              <a:spcBef>
                <a:spcPts val="200"/>
              </a:spcBef>
              <a:buNone/>
            </a:pPr>
            <a:r>
              <a:rPr sz="2000">
                <a:solidFill>
                  <a:srgbClr val="707C84"/>
                </a:solidFill>
              </a:rPr>
              <a:t>84,455 € — the best year so far</a:t>
            </a:r>
            <a:endParaRPr sz="2000">
              <a:solidFill>
                <a:srgbClr val="707C84"/>
              </a:solidFill>
            </a:endParaRPr>
          </a:p>
          <a:p>
            <a:pPr marL="456480" indent="-456480">
              <a:spcBef>
                <a:spcPts val="2200"/>
              </a:spcBef>
              <a:buAutoNum type="arabicPeriod"/>
            </a:pPr>
            <a:r>
              <a:rPr sz="2800" b="1"/>
              <a:t>Best sellers</a:t>
            </a:r>
            <a:endParaRPr sz="2800" b="1"/>
          </a:p>
          <a:p>
            <a:pPr lvl="1">
              <a:spcBef>
                <a:spcPts val="200"/>
              </a:spcBef>
              <a:buNone/>
            </a:pPr>
            <a:r>
              <a:rPr sz="2000">
                <a:solidFill>
                  <a:srgbClr val="707C84"/>
                </a:solidFill>
              </a:rPr>
              <a:t>what sold, what did not</a:t>
            </a:r>
            <a:endParaRPr sz="2000">
              <a:solidFill>
                <a:srgbClr val="707C84"/>
              </a:solidFill>
            </a:endParaRPr>
          </a:p>
          <a:p>
            <a:pPr marL="456480" indent="-456480">
              <a:spcBef>
                <a:spcPts val="2200"/>
              </a:spcBef>
              <a:buAutoNum type="arabicPeriod"/>
            </a:pPr>
            <a:r>
              <a:rPr sz="2800" b="1"/>
              <a:t>The new terrace</a:t>
            </a:r>
            <a:endParaRPr sz="2800" b="1"/>
          </a:p>
          <a:p>
            <a:pPr lvl="1">
              <a:spcBef>
                <a:spcPts val="200"/>
              </a:spcBef>
              <a:buNone/>
            </a:pPr>
            <a:r>
              <a:rPr sz="2000">
                <a:solidFill>
                  <a:srgbClr val="707C84"/>
                </a:solidFill>
              </a:rPr>
              <a:t>opened in June</a:t>
            </a:r>
            <a:endParaRPr sz="2000">
              <a:solidFill>
                <a:srgbClr val="707C84"/>
              </a:solidFill>
            </a:endParaRPr>
          </a:p>
          <a:p>
            <a:pPr marL="456480" indent="-456480">
              <a:spcBef>
                <a:spcPts val="2200"/>
              </a:spcBef>
              <a:buAutoNum type="arabicPeriod"/>
            </a:pPr>
            <a:r>
              <a:rPr sz="2800" b="1"/>
              <a:t>Plans for 2027</a:t>
            </a:r>
            <a:endParaRPr sz="2800" b="1"/>
          </a:p>
          <a:p>
            <a:pPr lvl="1">
              <a:spcBef>
                <a:spcPts val="200"/>
              </a:spcBef>
              <a:buNone/>
            </a:pPr>
            <a:r>
              <a:rPr sz="2000">
                <a:solidFill>
                  <a:srgbClr val="707C84"/>
                </a:solidFill>
              </a:rPr>
              <a:t>four steps, one per quarter</a:t>
            </a:r>
            <a:endParaRPr sz="2000">
              <a:solidFill>
                <a:srgbClr val="707C84"/>
              </a:solidFill>
            </a:endParaRPr>
          </a:p>
        </p:txBody>
      </p:sp>
      <p:sp>
        <p:nvSpPr>
          <p:cNvPr id="4" name="Panel"/>
          <p:cNvSpPr/>
          <p:nvPr/>
        </p:nvSpPr>
        <p:spPr>
          <a:xfrm>
            <a:off x="6451200" y="1247400"/>
            <a:ext cx="3024000" cy="36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5" name="Bar"/>
          <p:cNvSpPr/>
          <p:nvPr/>
        </p:nvSpPr>
        <p:spPr>
          <a:xfrm>
            <a:off x="6753600" y="1644120"/>
            <a:ext cx="2318400" cy="226800"/>
          </a:xfrm>
          <a:prstGeom prst="roundRect">
            <a:avLst>
              <a:gd name="adj" fmla="val 50000"/>
            </a:avLst>
          </a:prstGeom>
          <a:solidFill>
            <a:schemeClr val="accent1">
              <a:alpha val="86274"/>
            </a:scheme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6" name="Bar"/>
          <p:cNvSpPr/>
          <p:nvPr/>
        </p:nvSpPr>
        <p:spPr>
          <a:xfrm>
            <a:off x="6753600" y="2211120"/>
            <a:ext cx="2016000" cy="226800"/>
          </a:xfrm>
          <a:prstGeom prst="roundRect">
            <a:avLst>
              <a:gd name="adj" fmla="val 50000"/>
            </a:avLst>
          </a:prstGeom>
          <a:solidFill>
            <a:schemeClr val="accent2">
              <a:alpha val="76470"/>
            </a:scheme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7" name="Bar"/>
          <p:cNvSpPr/>
          <p:nvPr/>
        </p:nvSpPr>
        <p:spPr>
          <a:xfrm>
            <a:off x="6753600" y="2778120"/>
            <a:ext cx="1713600" cy="226800"/>
          </a:xfrm>
          <a:prstGeom prst="roundRect">
            <a:avLst>
              <a:gd name="adj" fmla="val 50000"/>
            </a:avLst>
          </a:prstGeom>
          <a:solidFill>
            <a:schemeClr val="accent1">
              <a:alpha val="66666"/>
            </a:scheme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8" name="Bar"/>
          <p:cNvSpPr/>
          <p:nvPr/>
        </p:nvSpPr>
        <p:spPr>
          <a:xfrm>
            <a:off x="6753600" y="3345120"/>
            <a:ext cx="1411200" cy="226800"/>
          </a:xfrm>
          <a:prstGeom prst="roundRect">
            <a:avLst>
              <a:gd name="adj" fmla="val 50000"/>
            </a:avLst>
          </a:prstGeom>
          <a:solidFill>
            <a:schemeClr val="accent2">
              <a:alpha val="56862"/>
            </a:scheme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9" name="Bar"/>
          <p:cNvSpPr/>
          <p:nvPr/>
        </p:nvSpPr>
        <p:spPr>
          <a:xfrm>
            <a:off x="6753600" y="3912120"/>
            <a:ext cx="1108800" cy="226800"/>
          </a:xfrm>
          <a:prstGeom prst="roundRect">
            <a:avLst>
              <a:gd name="adj" fmla="val 50000"/>
            </a:avLst>
          </a:prstGeom>
          <a:solidFill>
            <a:schemeClr val="accent1">
              <a:alpha val="47058"/>
            </a:scheme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10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11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2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p14:dur="700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Takings by month</a:t>
            </a:r>
            <a:endParaRPr/>
          </a:p>
        </p:txBody>
      </p:sp>
      <p:graphicFrame>
        <p:nvGraphicFramePr>
          <p:cNvPr id="3" name="Chart"/>
          <p:cNvGraphicFramePr>
            <a:graphicFrameLocks noGrp="1"/>
          </p:cNvGraphicFramePr>
          <p:nvPr/>
        </p:nvGraphicFramePr>
        <p:xfrm>
          <a:off x="504000" y="1417320"/>
          <a:ext cx="5947200" cy="3742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allout"/>
          <p:cNvSpPr/>
          <p:nvPr/>
        </p:nvSpPr>
        <p:spPr>
          <a:xfrm>
            <a:off x="6955200" y="1417320"/>
            <a:ext cx="2520000" cy="3288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360">
            <a:noFill/>
          </a:ln>
        </p:spPr>
        <p:txBody>
          <a:bodyPr wrap="square" lIns="216000" tIns="180000" rIns="90000" bIns="45000" anchor="t" rtlCol="0">
            <a:noAutofit/>
          </a:bodyPr>
          <a:lstStyle/>
          <a:p>
            <a:pPr algn="l">
              <a:buNone/>
            </a:pPr>
            <a:r>
              <a:rPr sz="3600" b="1">
                <a:solidFill>
                  <a:schemeClr val="tx2"/>
                </a:solidFill>
              </a:rPr>
              <a:t>84,455 €</a:t>
            </a:r>
            <a:endParaRPr sz="3600" b="1">
              <a:solidFill>
                <a:schemeClr val="tx2"/>
              </a:solidFill>
            </a:endParaRPr>
          </a:p>
          <a:p>
            <a:pPr algn="l">
              <a:spcBef>
                <a:spcPts val="0"/>
              </a:spcBef>
              <a:buNone/>
            </a:pPr>
            <a:r>
              <a:rPr sz="1600">
                <a:solidFill>
                  <a:srgbClr val="707C84"/>
                </a:solidFill>
              </a:rPr>
              <a:t>takings in 2026</a:t>
            </a:r>
            <a:endParaRPr sz="1600">
              <a:solidFill>
                <a:srgbClr val="707C84"/>
              </a:solidFill>
            </a:endParaRPr>
          </a:p>
          <a:p>
            <a:pPr algn="l">
              <a:spcBef>
                <a:spcPts val="2000"/>
              </a:spcBef>
              <a:buNone/>
            </a:pPr>
            <a:r>
              <a:rPr sz="2400" b="1">
                <a:solidFill>
                  <a:srgbClr val="288246"/>
                </a:solidFill>
              </a:rPr>
              <a:t>▲ +31.2 %</a:t>
            </a:r>
            <a:endParaRPr sz="2400" b="1">
              <a:solidFill>
                <a:srgbClr val="288246"/>
              </a:solidFill>
            </a:endParaRPr>
          </a:p>
          <a:p>
            <a:pPr algn="l">
              <a:spcBef>
                <a:spcPts val="0"/>
              </a:spcBef>
              <a:buNone/>
            </a:pPr>
            <a:r>
              <a:rPr sz="1600">
                <a:solidFill>
                  <a:srgbClr val="707C84"/>
                </a:solidFill>
              </a:rPr>
              <a:t>over 2025</a:t>
            </a:r>
            <a:endParaRPr sz="1600">
              <a:solidFill>
                <a:srgbClr val="707C84"/>
              </a:solidFill>
            </a:endParaRPr>
          </a:p>
          <a:p>
            <a:pPr algn="l">
              <a:spcBef>
                <a:spcPts val="2600"/>
              </a:spcBef>
              <a:buNone/>
            </a:pPr>
            <a:r>
              <a:rPr sz="1600" b="1"/>
              <a:t>Best month</a:t>
            </a:r>
            <a:endParaRPr sz="1600" b="1"/>
          </a:p>
          <a:p>
            <a:pPr algn="l">
              <a:spcBef>
                <a:spcPts val="0"/>
              </a:spcBef>
              <a:buNone/>
            </a:pPr>
            <a:r>
              <a:rPr sz="1600"/>
              <a:t>December: 8,411 €</a:t>
            </a:r>
            <a:endParaRPr sz="1600"/>
          </a:p>
        </p:txBody>
      </p:sp>
      <p:sp>
        <p:nvSpPr>
          <p:cNvPr id="5" name="Accent"/>
          <p:cNvSpPr/>
          <p:nvPr/>
        </p:nvSpPr>
        <p:spPr>
          <a:xfrm>
            <a:off x="6955200" y="1417320"/>
            <a:ext cx="93600" cy="3288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6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7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3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p14:dur="7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3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3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9000" y="109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Best sellers</a:t>
            </a:r>
            <a:endParaRPr/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604800" y="1360800"/>
          <a:ext cx="6480000" cy="27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152000"/>
                <a:gridCol w="1368000"/>
                <a:gridCol w="1224000"/>
              </a:tblGrid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Product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Units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Takings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vs 2025</a:t>
                      </a:r>
                      <a:endParaRPr sz="1800"/>
                    </a:p>
                  </a:txBody>
                  <a:tcPr marL="72000" marR="72000" marT="36000" marB="36000" anchor="t"/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Flat white</a:t>
                      </a:r>
                      <a:endParaRPr sz="1800" b="1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6,412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22,442 €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88246"/>
                          </a:solidFill>
                        </a:rPr>
                        <a:t>+18 %</a:t>
                      </a:r>
                      <a:endParaRPr sz="1800">
                        <a:solidFill>
                          <a:srgbClr val="288246"/>
                        </a:solidFill>
                      </a:endParaRPr>
                    </a:p>
                  </a:txBody>
                  <a:tcPr marL="72000" marR="72000" marT="36000" marB="36000" anchor="t"/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Croissant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5,980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11,960 €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88246"/>
                          </a:solidFill>
                        </a:rPr>
                        <a:t>+9 %</a:t>
                      </a:r>
                      <a:endParaRPr sz="1800">
                        <a:solidFill>
                          <a:srgbClr val="288246"/>
                        </a:solidFill>
                      </a:endParaRPr>
                    </a:p>
                  </a:txBody>
                  <a:tcPr marL="72000" marR="72000" marT="36000" marB="36000" anchor="t"/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Espresso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5,104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12,760 €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88246"/>
                          </a:solidFill>
                        </a:rPr>
                        <a:t>+4 %</a:t>
                      </a:r>
                      <a:endParaRPr sz="1800">
                        <a:solidFill>
                          <a:srgbClr val="288246"/>
                        </a:solidFill>
                      </a:endParaRPr>
                    </a:p>
                  </a:txBody>
                  <a:tcPr marL="72000" marR="72000" marT="36000" marB="36000" anchor="t"/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Chai latte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2,233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8,932 €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88246"/>
                          </a:solidFill>
                        </a:rPr>
                        <a:t>+41 %</a:t>
                      </a:r>
                      <a:endParaRPr sz="1800">
                        <a:solidFill>
                          <a:srgbClr val="288246"/>
                        </a:solidFill>
                      </a:endParaRPr>
                    </a:p>
                  </a:txBody>
                  <a:tcPr marL="72000" marR="72000" marT="36000" marB="36000" anchor="t"/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Carrot cake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1,876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7,504 €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288246"/>
                          </a:solidFill>
                        </a:rPr>
                        <a:t>+12 %</a:t>
                      </a:r>
                      <a:endParaRPr sz="1800">
                        <a:solidFill>
                          <a:srgbClr val="288246"/>
                        </a:solidFill>
                      </a:endParaRPr>
                    </a:p>
                  </a:txBody>
                  <a:tcPr marL="72000" marR="72000" marT="36000" marB="36000" anchor="t"/>
                </a:tc>
              </a:tr>
              <a:tr h="3888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Iced tea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1,140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/>
                        <a:t>3,420 €</a:t>
                      </a:r>
                      <a:endParaRPr sz="1800"/>
                    </a:p>
                  </a:txBody>
                  <a:tcPr marL="72000" marR="72000" marT="36000" marB="36000" anchor="t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>
                          <a:solidFill>
                            <a:srgbClr val="BE463C"/>
                          </a:solidFill>
                        </a:rPr>
                        <a:t>−6 %</a:t>
                      </a:r>
                      <a:endParaRPr sz="1800">
                        <a:solidFill>
                          <a:srgbClr val="BE463C"/>
                        </a:solidFill>
                      </a:endParaRPr>
                    </a:p>
                  </a:txBody>
                  <a:tcPr marL="72000" marR="72000" marT="36000" marB="36000" anchor="t"/>
                </a:tc>
              </a:tr>
            </a:tbl>
          </a:graphicData>
        </a:graphic>
      </p:graphicFrame>
      <p:sp>
        <p:nvSpPr>
          <p:cNvPr id="4" name="Star"/>
          <p:cNvSpPr/>
          <p:nvPr/>
        </p:nvSpPr>
        <p:spPr>
          <a:xfrm>
            <a:off x="8971200" y="1360800"/>
            <a:ext cx="396000" cy="378000"/>
          </a:xfrm>
          <a:prstGeom prst="star5">
            <a:avLst/>
          </a:prstGeom>
          <a:solidFill>
            <a:schemeClr val="accent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5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6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4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rrace"/>
          <p:cNvPicPr>
            <a:picLocks noChangeAspect="1"/>
          </p:cNvPicPr>
          <p:nvPr>
            <p:ph type="pic" idx="1"/>
          </p:nvPr>
        </p:nvPicPr>
        <p:blipFill>
          <a:blip r:embed="rId2"/>
          <a:srcRect l="18800" t="0" r="18800" b="0"/>
          <a:stretch>
            <a:fillRect/>
          </a:stretch>
        </p:blipFill>
        <p:spPr>
          <a:xfrm>
            <a:off x="0" y="0"/>
            <a:ext cx="5644800" cy="567000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3" name=""/>
          <p:cNvSpPr>
            <a:spLocks noGrp="1"/>
          </p:cNvSpPr>
          <p:nvPr>
            <p:ph type="title"/>
          </p:nvPr>
        </p:nvSpPr>
        <p:spPr>
          <a:xfrm>
            <a:off x="6148800" y="680400"/>
            <a:ext cx="3427200" cy="907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The new terrace</a:t>
            </a:r>
            <a:endParaRPr/>
          </a:p>
        </p:txBody>
      </p:sp>
      <p:sp>
        <p:nvSpPr>
          <p:cNvPr id="4" name=""/>
          <p:cNvSpPr>
            <a:spLocks noGrp="1"/>
          </p:cNvSpPr>
          <p:nvPr>
            <p:ph type="body" idx="3"/>
          </p:nvPr>
        </p:nvSpPr>
        <p:spPr>
          <a:xfrm>
            <a:off x="6148800" y="1814400"/>
            <a:ext cx="3427200" cy="31752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rmAutofit/>
          </a:bodyPr>
          <a:lstStyle/>
          <a:p>
            <a:pPr marL="264240" indent="-264240"/>
            <a:r>
              <a:rPr sz="2000"/>
              <a:t>Opened on 12 June</a:t>
            </a:r>
            <a:endParaRPr sz="2000"/>
          </a:p>
          <a:p>
            <a:pPr marL="264240" indent="-264240"/>
            <a:r>
              <a:rPr sz="2000"/>
              <a:t>40 seats, facing the sea</a:t>
            </a:r>
            <a:endParaRPr sz="2000"/>
          </a:p>
          <a:p>
            <a:pPr marL="264240" indent="-264240"/>
            <a:r>
              <a:rPr sz="2000"/>
              <a:t>+22 % takings in summer</a:t>
            </a:r>
            <a:endParaRPr sz="2000"/>
          </a:p>
          <a:p>
            <a:pPr marL="264240" indent="-264240"/>
            <a:r>
              <a:rPr sz="2000"/>
              <a:t>Open until 23:00 in July and August</a:t>
            </a:r>
            <a:endParaRPr sz="2000"/>
          </a:p>
        </p:txBody>
      </p:sp>
      <p:sp>
        <p:nvSpPr>
          <p:cNvPr id="5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6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5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p14:dur="700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Plans for 2027</a:t>
            </a:r>
            <a:endParaRPr/>
          </a:p>
        </p:txBody>
      </p:sp>
      <p:cxnSp>
        <p:nvCxnSpPr>
          <p:cNvPr id="3" name="Timeline"/>
          <p:cNvCxnSpPr/>
          <p:nvPr/>
        </p:nvCxnSpPr>
        <p:spPr>
          <a:xfrm>
            <a:off x="907200" y="2948400"/>
            <a:ext cx="8265600" cy="0"/>
          </a:xfrm>
          <a:prstGeom prst="line">
            <a:avLst/>
          </a:prstGeom>
          <a:noFill/>
          <a:ln w="64800">
            <a:solidFill>
              <a:srgbClr val="D2CEC8"/>
            </a:solidFill>
          </a:ln>
        </p:spPr>
      </p:cxnSp>
      <p:sp>
        <p:nvSpPr>
          <p:cNvPr id="4" name="Q1"/>
          <p:cNvSpPr/>
          <p:nvPr/>
        </p:nvSpPr>
        <p:spPr>
          <a:xfrm>
            <a:off x="1152000" y="2588400"/>
            <a:ext cx="720000" cy="720000"/>
          </a:xfrm>
          <a:prstGeom prst="ellipse">
            <a:avLst/>
          </a:prstGeom>
          <a:solidFill>
            <a:schemeClr val="accent1"/>
          </a:solidFill>
          <a:ln w="936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sz="2000" b="1">
                <a:solidFill>
                  <a:schemeClr val="bg1"/>
                </a:solidFill>
              </a:rPr>
              <a:t>Q1</a:t>
            </a:r>
            <a:endParaRPr sz="2000" b="1">
              <a:solidFill>
                <a:schemeClr val="bg1"/>
              </a:solidFill>
            </a:endParaRPr>
          </a:p>
        </p:txBody>
      </p:sp>
      <p:sp>
        <p:nvSpPr>
          <p:cNvPr id="5" name="Loyalty card"/>
          <p:cNvSpPr/>
          <p:nvPr/>
        </p:nvSpPr>
        <p:spPr>
          <a:xfrm>
            <a:off x="324000" y="1360800"/>
            <a:ext cx="2376000" cy="11520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pPr algn="ctr">
              <a:buNone/>
            </a:pPr>
            <a:r>
              <a:rPr sz="2000" b="1"/>
              <a:t>Loyalty card</a:t>
            </a:r>
            <a:endParaRPr sz="2000" b="1"/>
          </a:p>
          <a:p>
            <a:pPr algn="ctr">
              <a:spcBef>
                <a:spcPts val="600"/>
              </a:spcBef>
              <a:buNone/>
            </a:pPr>
            <a:r>
              <a:rPr sz="1500">
                <a:solidFill>
                  <a:srgbClr val="707C84"/>
                </a:solidFill>
              </a:rPr>
              <a:t>on the phone app</a:t>
            </a:r>
            <a:endParaRPr sz="1500">
              <a:solidFill>
                <a:srgbClr val="707C84"/>
              </a:solidFill>
            </a:endParaRPr>
          </a:p>
        </p:txBody>
      </p:sp>
      <p:sp>
        <p:nvSpPr>
          <p:cNvPr id="6" name="Q2"/>
          <p:cNvSpPr/>
          <p:nvPr/>
        </p:nvSpPr>
        <p:spPr>
          <a:xfrm>
            <a:off x="3470400" y="2588400"/>
            <a:ext cx="720000" cy="720000"/>
          </a:xfrm>
          <a:prstGeom prst="ellipse">
            <a:avLst/>
          </a:prstGeom>
          <a:solidFill>
            <a:schemeClr val="accent2"/>
          </a:solidFill>
          <a:ln w="936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sz="2000" b="1">
                <a:solidFill>
                  <a:schemeClr val="bg1"/>
                </a:solidFill>
              </a:rPr>
              <a:t>Q2</a:t>
            </a:r>
            <a:endParaRPr sz="2000" b="1">
              <a:solidFill>
                <a:schemeClr val="bg1"/>
              </a:solidFill>
            </a:endParaRPr>
          </a:p>
        </p:txBody>
      </p:sp>
      <p:sp>
        <p:nvSpPr>
          <p:cNvPr id="7" name="Brunch menu"/>
          <p:cNvSpPr/>
          <p:nvPr/>
        </p:nvSpPr>
        <p:spPr>
          <a:xfrm>
            <a:off x="2642400" y="3515400"/>
            <a:ext cx="2376000" cy="11520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pPr algn="ctr">
              <a:buNone/>
            </a:pPr>
            <a:r>
              <a:rPr sz="2000" b="1"/>
              <a:t>Brunch menu</a:t>
            </a:r>
            <a:endParaRPr sz="2000" b="1"/>
          </a:p>
          <a:p>
            <a:pPr algn="ctr">
              <a:spcBef>
                <a:spcPts val="600"/>
              </a:spcBef>
              <a:buNone/>
            </a:pPr>
            <a:r>
              <a:rPr sz="1500">
                <a:solidFill>
                  <a:srgbClr val="707C84"/>
                </a:solidFill>
              </a:rPr>
              <a:t>weekends, 9:00–14:00</a:t>
            </a:r>
            <a:endParaRPr sz="1500">
              <a:solidFill>
                <a:srgbClr val="707C84"/>
              </a:solidFill>
            </a:endParaRPr>
          </a:p>
        </p:txBody>
      </p:sp>
      <p:sp>
        <p:nvSpPr>
          <p:cNvPr id="8" name="Q3"/>
          <p:cNvSpPr/>
          <p:nvPr/>
        </p:nvSpPr>
        <p:spPr>
          <a:xfrm>
            <a:off x="5788800" y="2588400"/>
            <a:ext cx="720000" cy="720000"/>
          </a:xfrm>
          <a:prstGeom prst="ellipse">
            <a:avLst/>
          </a:prstGeom>
          <a:solidFill>
            <a:schemeClr val="accent1"/>
          </a:solidFill>
          <a:ln w="936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sz="2000" b="1">
                <a:solidFill>
                  <a:schemeClr val="bg1"/>
                </a:solidFill>
              </a:rPr>
              <a:t>Q3</a:t>
            </a:r>
            <a:endParaRPr sz="2000" b="1">
              <a:solidFill>
                <a:schemeClr val="bg1"/>
              </a:solidFill>
            </a:endParaRPr>
          </a:p>
        </p:txBody>
      </p:sp>
      <p:sp>
        <p:nvSpPr>
          <p:cNvPr id="9" name="A second shop"/>
          <p:cNvSpPr/>
          <p:nvPr/>
        </p:nvSpPr>
        <p:spPr>
          <a:xfrm>
            <a:off x="4960800" y="1360800"/>
            <a:ext cx="2376000" cy="11520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pPr algn="ctr">
              <a:buNone/>
            </a:pPr>
            <a:r>
              <a:rPr sz="2000" b="1"/>
              <a:t>A second shop</a:t>
            </a:r>
            <a:endParaRPr sz="2000" b="1"/>
          </a:p>
          <a:p>
            <a:pPr algn="ctr">
              <a:spcBef>
                <a:spcPts val="600"/>
              </a:spcBef>
              <a:buNone/>
            </a:pPr>
            <a:r>
              <a:rPr sz="1500">
                <a:solidFill>
                  <a:srgbClr val="707C84"/>
                </a:solidFill>
              </a:rPr>
              <a:t>near the station</a:t>
            </a:r>
            <a:endParaRPr sz="1500">
              <a:solidFill>
                <a:srgbClr val="707C84"/>
              </a:solidFill>
            </a:endParaRPr>
          </a:p>
        </p:txBody>
      </p:sp>
      <p:sp>
        <p:nvSpPr>
          <p:cNvPr id="10" name="Q4"/>
          <p:cNvSpPr/>
          <p:nvPr/>
        </p:nvSpPr>
        <p:spPr>
          <a:xfrm>
            <a:off x="8107200" y="2588400"/>
            <a:ext cx="720000" cy="720000"/>
          </a:xfrm>
          <a:prstGeom prst="ellipse">
            <a:avLst/>
          </a:prstGeom>
          <a:solidFill>
            <a:schemeClr val="accent2"/>
          </a:solidFill>
          <a:ln w="936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sz="2000" b="1">
                <a:solidFill>
                  <a:schemeClr val="bg1"/>
                </a:solidFill>
              </a:rPr>
              <a:t>Q4</a:t>
            </a:r>
            <a:endParaRPr sz="2000" b="1">
              <a:solidFill>
                <a:schemeClr val="bg1"/>
              </a:solidFill>
            </a:endParaRPr>
          </a:p>
        </p:txBody>
      </p:sp>
      <p:sp>
        <p:nvSpPr>
          <p:cNvPr id="11" name="Roast our own"/>
          <p:cNvSpPr/>
          <p:nvPr/>
        </p:nvSpPr>
        <p:spPr>
          <a:xfrm>
            <a:off x="7279200" y="3515400"/>
            <a:ext cx="2376000" cy="11520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pPr algn="ctr">
              <a:buNone/>
            </a:pPr>
            <a:r>
              <a:rPr sz="2000" b="1"/>
              <a:t>Roast our own</a:t>
            </a:r>
            <a:endParaRPr sz="2000" b="1"/>
          </a:p>
          <a:p>
            <a:pPr algn="ctr">
              <a:spcBef>
                <a:spcPts val="600"/>
              </a:spcBef>
              <a:buNone/>
            </a:pPr>
            <a:r>
              <a:rPr sz="1500">
                <a:solidFill>
                  <a:srgbClr val="707C84"/>
                </a:solidFill>
              </a:rPr>
              <a:t>a small roaster, 5 kg</a:t>
            </a:r>
            <a:endParaRPr sz="1500">
              <a:solidFill>
                <a:srgbClr val="707C84"/>
              </a:solidFill>
            </a:endParaRPr>
          </a:p>
        </p:txBody>
      </p:sp>
      <p:sp>
        <p:nvSpPr>
          <p:cNvPr id="12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13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6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p14:dur="700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574560" y="3402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b" rtlCol="0">
            <a:normAutofit/>
          </a:bodyPr>
          <a:lstStyle/>
          <a:p>
            <a:r>
              <a:rPr/>
              <a:t>What our customers say</a:t>
            </a:r>
            <a:endParaRPr/>
          </a:p>
        </p:txBody>
      </p:sp>
      <p:sp>
        <p:nvSpPr>
          <p:cNvPr id="3" name="Quote mark"/>
          <p:cNvSpPr txBox="1"/>
          <p:nvPr/>
        </p:nvSpPr>
        <p:spPr>
          <a:xfrm>
            <a:off x="705600" y="1247400"/>
            <a:ext cx="1411200" cy="17010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r>
              <a:rPr sz="16000" b="1">
                <a:solidFill>
                  <a:schemeClr val="accent2"/>
                </a:solidFill>
                <a:latin typeface="Liberation Serif"/>
              </a:rPr>
              <a:t>“</a:t>
            </a:r>
            <a:endParaRPr sz="16000" b="1">
              <a:solidFill>
                <a:schemeClr val="accent2"/>
              </a:solidFill>
              <a:latin typeface="Liberation Serif"/>
            </a:endParaRPr>
          </a:p>
        </p:txBody>
      </p:sp>
      <p:sp>
        <p:nvSpPr>
          <p:cNvPr id="4" name="Quote"/>
          <p:cNvSpPr txBox="1"/>
          <p:nvPr/>
        </p:nvSpPr>
        <p:spPr>
          <a:xfrm>
            <a:off x="1612800" y="1870920"/>
            <a:ext cx="7660800" cy="13608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r>
              <a:rPr sz="3400" i="1">
                <a:latin typeface="Liberation Serif"/>
              </a:rPr>
              <a:t>The best flat white in town, and now with a view of the sea.</a:t>
            </a:r>
            <a:endParaRPr sz="3400" i="1">
              <a:latin typeface="Liberation Serif"/>
            </a:endParaRPr>
          </a:p>
        </p:txBody>
      </p:sp>
      <p:sp>
        <p:nvSpPr>
          <p:cNvPr id="5" name="By"/>
          <p:cNvSpPr txBox="1"/>
          <p:nvPr/>
        </p:nvSpPr>
        <p:spPr>
          <a:xfrm>
            <a:off x="1612800" y="3402000"/>
            <a:ext cx="7056000" cy="4536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r>
              <a:rPr sz="2000">
                <a:solidFill>
                  <a:srgbClr val="707C84"/>
                </a:solidFill>
              </a:rPr>
              <a:t>— Marie L., a regular since 2021</a:t>
            </a:r>
            <a:endParaRPr sz="2000">
              <a:solidFill>
                <a:srgbClr val="707C84"/>
              </a:solidFill>
            </a:endParaRPr>
          </a:p>
        </p:txBody>
      </p:sp>
      <p:sp>
        <p:nvSpPr>
          <p:cNvPr id="6" name="Stars"/>
          <p:cNvSpPr txBox="1"/>
          <p:nvPr/>
        </p:nvSpPr>
        <p:spPr>
          <a:xfrm>
            <a:off x="1612800" y="3969000"/>
            <a:ext cx="7056000" cy="4536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r>
              <a:rPr sz="2000">
                <a:solidFill>
                  <a:schemeClr val="accent2"/>
                </a:solidFill>
              </a:rPr>
              <a:t>★★★★★   4.8 / 5 on 1,204 reviews</a:t>
            </a:r>
            <a:endParaRPr sz="2000">
              <a:solidFill>
                <a:schemeClr val="accent2"/>
              </a:solidFill>
            </a:endParaRPr>
          </a:p>
        </p:txBody>
      </p:sp>
      <p:sp>
        <p:nvSpPr>
          <p:cNvPr id="7" name="Footer"/>
          <p:cNvSpPr>
            <a:spLocks noGrp="1"/>
          </p:cNvSpPr>
          <p:nvPr>
            <p:ph type="ftr" idx="3"/>
          </p:nvPr>
        </p:nvSpPr>
        <p:spPr>
          <a:xfrm>
            <a:off x="574560" y="5357880"/>
            <a:ext cx="6048000" cy="254880"/>
          </a:xfrm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sz="1200">
                <a:solidFill>
                  <a:srgbClr val="707C84"/>
                </a:solidFill>
              </a:rPr>
              <a:t>Onyx Café  ·  2026, the year in review</a:t>
            </a:r>
            <a:endParaRPr sz="1200">
              <a:solidFill>
                <a:srgbClr val="707C84"/>
              </a:solidFill>
            </a:endParaRPr>
          </a:p>
        </p:txBody>
      </p:sp>
      <p:sp>
        <p:nvSpPr>
          <p:cNvPr id="8" name="Slide Number"/>
          <p:cNvSpPr>
            <a:spLocks noGrp="1"/>
          </p:cNvSpPr>
          <p:nvPr>
            <p:ph type="sldNum" idx="4"/>
          </p:nvPr>
        </p:nvSpPr>
        <p:spPr>
          <a:xfrm>
            <a:off x="8064000" y="5357880"/>
            <a:ext cx="1441440" cy="254880"/>
          </a:xfrm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fld id="{B6F15528-21DE-4FAA-801E-634DDDAF4B2B}" type="slidenum">
              <a:rPr sz="1200" b="1">
                <a:solidFill>
                  <a:schemeClr val="accent1"/>
                </a:solidFill>
              </a:rPr>
              <a:t>7</a:t>
            </a:fld>
            <a:endParaRPr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p14:dur="9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 showMasterSp="0">
  <p:cSld>
    <p:bg>
      <p:bgPr>
        <a:gradFill rotWithShape="1">
          <a:gsLst>
            <a:gs pos="0">
              <a:srgbClr val="143A48"/>
            </a:gs>
            <a:gs pos="100000">
              <a:srgbClr val="347C8E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"/>
          <p:cNvSpPr/>
          <p:nvPr/>
        </p:nvSpPr>
        <p:spPr>
          <a:xfrm>
            <a:off x="-2520000" y="4536000"/>
            <a:ext cx="15120000" cy="3402000"/>
          </a:xfrm>
          <a:prstGeom prst="ellipse">
            <a:avLst/>
          </a:prstGeom>
          <a:solidFill>
            <a:srgbClr val="F0A86E">
              <a:alpha val="92156"/>
            </a:srgbClr>
          </a:solidFill>
          <a:ln w="9360">
            <a:noFill/>
          </a:ln>
        </p:spPr>
        <p:txBody>
          <a:bodyPr wrap="square" lIns="90000" tIns="45000" rIns="90000" bIns="45000" anchor="ctr" rtlCol="0">
            <a:noAutofit/>
          </a:bodyPr>
          <a:lstStyle/>
          <a:p>
            <a:endParaRPr/>
          </a:p>
        </p:txBody>
      </p:sp>
      <p:sp>
        <p:nvSpPr>
          <p:cNvPr id="3" name=""/>
          <p:cNvSpPr>
            <a:spLocks noGrp="1"/>
          </p:cNvSpPr>
          <p:nvPr>
            <p:ph type="title"/>
          </p:nvPr>
        </p:nvSpPr>
        <p:spPr>
          <a:xfrm>
            <a:off x="574560" y="1587600"/>
            <a:ext cx="8930880" cy="13608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ctr" rtlCol="0">
            <a:normAutofit/>
          </a:bodyPr>
          <a:lstStyle/>
          <a:p>
            <a:pPr algn="ctr"/>
            <a:r>
              <a:rPr sz="8000" b="1">
                <a:solidFill>
                  <a:srgbClr val="FFFFFF"/>
                </a:solidFill>
              </a:rPr>
              <a:t>Thank you</a:t>
            </a:r>
            <a:endParaRPr sz="8000" b="1">
              <a:solidFill>
                <a:srgbClr val="FFFFFF"/>
              </a:solidFill>
            </a:endParaRPr>
          </a:p>
        </p:txBody>
      </p:sp>
      <p:sp>
        <p:nvSpPr>
          <p:cNvPr id="4" name=""/>
          <p:cNvSpPr>
            <a:spLocks noGrp="1"/>
          </p:cNvSpPr>
          <p:nvPr>
            <p:ph type="subTitle" idx="2"/>
          </p:nvPr>
        </p:nvSpPr>
        <p:spPr>
          <a:xfrm>
            <a:off x="574560" y="3061800"/>
            <a:ext cx="8930880" cy="680400"/>
          </a:xfrm>
          <a:prstGeom prst="rect">
            <a:avLst/>
          </a:prstGeom>
          <a:noFill/>
          <a:ln w="9360">
            <a:noFill/>
          </a:ln>
        </p:spPr>
        <p:txBody>
          <a:bodyPr wrap="square" lIns="90000" tIns="45000" rIns="90000" bIns="45000" anchor="t" rtlCol="0">
            <a:noAutofit/>
          </a:bodyPr>
          <a:lstStyle/>
          <a:p>
            <a:pPr algn="ctr"/>
            <a:r>
              <a:rPr sz="3600">
                <a:solidFill>
                  <a:srgbClr val="FFDEC0"/>
                </a:solidFill>
              </a:rPr>
              <a:t>Questions?</a:t>
            </a:r>
            <a:endParaRPr sz="3600">
              <a:solidFill>
                <a:srgbClr val="FFDEC0"/>
              </a:solidFill>
            </a:endParaRPr>
          </a:p>
        </p:txBody>
      </p:sp>
    </p:spTree>
  </p:cSld>
  <p:clrMapOvr>
    <a:masterClrMapping/>
  </p:clrMapOvr>
  <p:transition spd="med" p14:dur="900">
    <p:zoom/>
  </p:transition>
</p:sld>
</file>

<file path=ppt/theme/theme1.xml><?xml version="1.0" encoding="utf-8"?>
<a:theme xmlns:a="http://schemas.openxmlformats.org/drawingml/2006/main" name="Café">
  <a:themeElements>
    <a:clrScheme name="Café">
      <a:dk1>
        <a:srgbClr val="1F2A30"/>
      </a:dk1>
      <a:lt1>
        <a:srgbClr val="FFFFFF"/>
      </a:lt1>
      <a:dk2>
        <a:srgbClr val="18404E"/>
      </a:dk2>
      <a:lt2>
        <a:srgbClr val="F6F2EE"/>
      </a:lt2>
      <a:accent1>
        <a:srgbClr val="2E6E80"/>
      </a:accent1>
      <a:accent2>
        <a:srgbClr val="F0A86E"/>
      </a:accent2>
      <a:accent3>
        <a:srgbClr val="96AABA"/>
      </a:accent3>
      <a:accent4>
        <a:srgbClr val="5B8C5A"/>
      </a:accent4>
      <a:accent5>
        <a:srgbClr val="8E6CB0"/>
      </a:accent5>
      <a:accent6>
        <a:srgbClr val="C0504D"/>
      </a:accent6>
      <a:hlink>
        <a:srgbClr val="2E6E80"/>
      </a:hlink>
      <a:folHlink>
        <a:srgbClr val="2E6E80"/>
      </a:folHlink>
    </a:clrScheme>
    <a:fontScheme name="Café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Ony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Café">
      <a:dk1>
        <a:srgbClr val="1F2A30"/>
      </a:dk1>
      <a:lt1>
        <a:srgbClr val="FFFFFF"/>
      </a:lt1>
      <a:dk2>
        <a:srgbClr val="18404E"/>
      </a:dk2>
      <a:lt2>
        <a:srgbClr val="F6F2EE"/>
      </a:lt2>
      <a:accent1>
        <a:srgbClr val="2E6E80"/>
      </a:accent1>
      <a:accent2>
        <a:srgbClr val="F0A86E"/>
      </a:accent2>
      <a:accent3>
        <a:srgbClr val="96AABA"/>
      </a:accent3>
      <a:accent4>
        <a:srgbClr val="5B8C5A"/>
      </a:accent4>
      <a:accent5>
        <a:srgbClr val="8E6CB0"/>
      </a:accent5>
      <a:accent6>
        <a:srgbClr val="C0504D"/>
      </a:accent6>
      <a:hlink>
        <a:srgbClr val="2E6E80"/>
      </a:hlink>
      <a:folHlink>
        <a:srgbClr val="2E6E80"/>
      </a:folHlink>
    </a:clrScheme>
    <a:fontScheme name="Café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Ony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Onyx Slides</Application>
  <Slides>8</Slides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Onyx Slides</dc:creator>
</cp:coreProperties>
</file>